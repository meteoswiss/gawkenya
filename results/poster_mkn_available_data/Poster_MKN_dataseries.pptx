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0" r:id="rId2"/>
  </p:sldIdLst>
  <p:sldSz cx="42794238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lausen Jörg" initials="KJ" lastIdx="1" clrIdx="0">
    <p:extLst>
      <p:ext uri="{19B8F6BF-5375-455C-9EA6-DF929625EA0E}">
        <p15:presenceInfo xmlns:p15="http://schemas.microsoft.com/office/powerpoint/2012/main" userId="S-1-5-21-3594667863-2999451416-3318223472-1408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756B"/>
    <a:srgbClr val="3D3D3D"/>
    <a:srgbClr val="777777"/>
    <a:srgbClr val="6298C6"/>
    <a:srgbClr val="031819"/>
    <a:srgbClr val="6B5439"/>
    <a:srgbClr val="1F4073"/>
    <a:srgbClr val="B1926D"/>
    <a:srgbClr val="E9E1D7"/>
    <a:srgbClr val="D8F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94828" autoAdjust="0"/>
  </p:normalViewPr>
  <p:slideViewPr>
    <p:cSldViewPr snapToGrid="0">
      <p:cViewPr varScale="1">
        <p:scale>
          <a:sx n="25" d="100"/>
          <a:sy n="25" d="100"/>
        </p:scale>
        <p:origin x="129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6C71E-9C09-49E7-BA6A-6AD17C8E931E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04DFE-A61B-4735-AEAC-FCB69E2F769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782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https://gml.noaa.gov/aero/software/aerosols/cpd2variables.html &gt;&gt;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Ecotech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Neph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plot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[BGR] und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Bbs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[BGR] 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D04DFE-A61B-4735-AEAC-FCB69E2F769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536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9568" y="4953466"/>
            <a:ext cx="36375102" cy="10537496"/>
          </a:xfrm>
        </p:spPr>
        <p:txBody>
          <a:bodyPr anchor="b"/>
          <a:lstStyle>
            <a:lvl1pPr algn="ctr">
              <a:defRPr sz="2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49280" y="15897328"/>
            <a:ext cx="32095679" cy="7307583"/>
          </a:xfrm>
        </p:spPr>
        <p:txBody>
          <a:bodyPr/>
          <a:lstStyle>
            <a:lvl1pPr marL="0" indent="0" algn="ctr">
              <a:buNone/>
              <a:defRPr sz="10592"/>
            </a:lvl1pPr>
            <a:lvl2pPr marL="2017806" indent="0" algn="ctr">
              <a:buNone/>
              <a:defRPr sz="8827"/>
            </a:lvl2pPr>
            <a:lvl3pPr marL="4035613" indent="0" algn="ctr">
              <a:buNone/>
              <a:defRPr sz="7944"/>
            </a:lvl3pPr>
            <a:lvl4pPr marL="6053419" indent="0" algn="ctr">
              <a:buNone/>
              <a:defRPr sz="7061"/>
            </a:lvl4pPr>
            <a:lvl5pPr marL="8071226" indent="0" algn="ctr">
              <a:buNone/>
              <a:defRPr sz="7061"/>
            </a:lvl5pPr>
            <a:lvl6pPr marL="10089032" indent="0" algn="ctr">
              <a:buNone/>
              <a:defRPr sz="7061"/>
            </a:lvl6pPr>
            <a:lvl7pPr marL="12106839" indent="0" algn="ctr">
              <a:buNone/>
              <a:defRPr sz="7061"/>
            </a:lvl7pPr>
            <a:lvl8pPr marL="14124645" indent="0" algn="ctr">
              <a:buNone/>
              <a:defRPr sz="7061"/>
            </a:lvl8pPr>
            <a:lvl9pPr marL="16142452" indent="0" algn="ctr">
              <a:buNone/>
              <a:defRPr sz="7061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6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29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9818" y="7545809"/>
            <a:ext cx="36910030" cy="12590343"/>
          </a:xfrm>
        </p:spPr>
        <p:txBody>
          <a:bodyPr anchor="b"/>
          <a:lstStyle>
            <a:lvl1pPr>
              <a:defRPr sz="2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9818" y="20255262"/>
            <a:ext cx="36910030" cy="6620964"/>
          </a:xfrm>
        </p:spPr>
        <p:txBody>
          <a:bodyPr/>
          <a:lstStyle>
            <a:lvl1pPr marL="0" indent="0">
              <a:buNone/>
              <a:defRPr sz="10592">
                <a:solidFill>
                  <a:schemeClr val="tx1"/>
                </a:solidFill>
              </a:defRPr>
            </a:lvl1pPr>
            <a:lvl2pPr marL="2017806" indent="0">
              <a:buNone/>
              <a:defRPr sz="8827">
                <a:solidFill>
                  <a:schemeClr val="tx1">
                    <a:tint val="75000"/>
                  </a:schemeClr>
                </a:solidFill>
              </a:defRPr>
            </a:lvl2pPr>
            <a:lvl3pPr marL="4035613" indent="0">
              <a:buNone/>
              <a:defRPr sz="7944">
                <a:solidFill>
                  <a:schemeClr val="tx1">
                    <a:tint val="75000"/>
                  </a:schemeClr>
                </a:solidFill>
              </a:defRPr>
            </a:lvl3pPr>
            <a:lvl4pPr marL="6053419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4pPr>
            <a:lvl5pPr marL="8071226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5pPr>
            <a:lvl6pPr marL="10089032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6pPr>
            <a:lvl7pPr marL="12106839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7pPr>
            <a:lvl8pPr marL="14124645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8pPr>
            <a:lvl9pPr marL="16142452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81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104" y="8057261"/>
            <a:ext cx="18187551" cy="1920430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4583" y="8057261"/>
            <a:ext cx="18187551" cy="1920430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56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1611459"/>
            <a:ext cx="36910030" cy="585027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682" y="7419688"/>
            <a:ext cx="18103966" cy="3636275"/>
          </a:xfrm>
        </p:spPr>
        <p:txBody>
          <a:bodyPr anchor="b"/>
          <a:lstStyle>
            <a:lvl1pPr marL="0" indent="0">
              <a:buNone/>
              <a:defRPr sz="10592" b="1"/>
            </a:lvl1pPr>
            <a:lvl2pPr marL="2017806" indent="0">
              <a:buNone/>
              <a:defRPr sz="8827" b="1"/>
            </a:lvl2pPr>
            <a:lvl3pPr marL="4035613" indent="0">
              <a:buNone/>
              <a:defRPr sz="7944" b="1"/>
            </a:lvl3pPr>
            <a:lvl4pPr marL="6053419" indent="0">
              <a:buNone/>
              <a:defRPr sz="7061" b="1"/>
            </a:lvl4pPr>
            <a:lvl5pPr marL="8071226" indent="0">
              <a:buNone/>
              <a:defRPr sz="7061" b="1"/>
            </a:lvl5pPr>
            <a:lvl6pPr marL="10089032" indent="0">
              <a:buNone/>
              <a:defRPr sz="7061" b="1"/>
            </a:lvl6pPr>
            <a:lvl7pPr marL="12106839" indent="0">
              <a:buNone/>
              <a:defRPr sz="7061" b="1"/>
            </a:lvl7pPr>
            <a:lvl8pPr marL="14124645" indent="0">
              <a:buNone/>
              <a:defRPr sz="7061" b="1"/>
            </a:lvl8pPr>
            <a:lvl9pPr marL="16142452" indent="0">
              <a:buNone/>
              <a:defRPr sz="7061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7682" y="11055963"/>
            <a:ext cx="18103966" cy="1626165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4585" y="7419688"/>
            <a:ext cx="18193125" cy="3636275"/>
          </a:xfrm>
        </p:spPr>
        <p:txBody>
          <a:bodyPr anchor="b"/>
          <a:lstStyle>
            <a:lvl1pPr marL="0" indent="0">
              <a:buNone/>
              <a:defRPr sz="10592" b="1"/>
            </a:lvl1pPr>
            <a:lvl2pPr marL="2017806" indent="0">
              <a:buNone/>
              <a:defRPr sz="8827" b="1"/>
            </a:lvl2pPr>
            <a:lvl3pPr marL="4035613" indent="0">
              <a:buNone/>
              <a:defRPr sz="7944" b="1"/>
            </a:lvl3pPr>
            <a:lvl4pPr marL="6053419" indent="0">
              <a:buNone/>
              <a:defRPr sz="7061" b="1"/>
            </a:lvl4pPr>
            <a:lvl5pPr marL="8071226" indent="0">
              <a:buNone/>
              <a:defRPr sz="7061" b="1"/>
            </a:lvl5pPr>
            <a:lvl6pPr marL="10089032" indent="0">
              <a:buNone/>
              <a:defRPr sz="7061" b="1"/>
            </a:lvl6pPr>
            <a:lvl7pPr marL="12106839" indent="0">
              <a:buNone/>
              <a:defRPr sz="7061" b="1"/>
            </a:lvl7pPr>
            <a:lvl8pPr marL="14124645" indent="0">
              <a:buNone/>
              <a:defRPr sz="7061" b="1"/>
            </a:lvl8pPr>
            <a:lvl9pPr marL="16142452" indent="0">
              <a:buNone/>
              <a:defRPr sz="7061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4585" y="11055963"/>
            <a:ext cx="18193125" cy="1626165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88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93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19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2017818"/>
            <a:ext cx="13802256" cy="7062364"/>
          </a:xfrm>
        </p:spPr>
        <p:txBody>
          <a:bodyPr anchor="b"/>
          <a:lstStyle>
            <a:lvl1pPr>
              <a:defRPr sz="1412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3125" y="4357934"/>
            <a:ext cx="21664583" cy="21509383"/>
          </a:xfrm>
        </p:spPr>
        <p:txBody>
          <a:bodyPr/>
          <a:lstStyle>
            <a:lvl1pPr>
              <a:defRPr sz="14123"/>
            </a:lvl1pPr>
            <a:lvl2pPr>
              <a:defRPr sz="12358"/>
            </a:lvl2pPr>
            <a:lvl3pPr>
              <a:defRPr sz="10592"/>
            </a:lvl3pPr>
            <a:lvl4pPr>
              <a:defRPr sz="8827"/>
            </a:lvl4pPr>
            <a:lvl5pPr>
              <a:defRPr sz="8827"/>
            </a:lvl5pPr>
            <a:lvl6pPr>
              <a:defRPr sz="8827"/>
            </a:lvl6pPr>
            <a:lvl7pPr>
              <a:defRPr sz="8827"/>
            </a:lvl7pPr>
            <a:lvl8pPr>
              <a:defRPr sz="8827"/>
            </a:lvl8pPr>
            <a:lvl9pPr>
              <a:defRPr sz="882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7678" y="9080183"/>
            <a:ext cx="13802256" cy="16822161"/>
          </a:xfrm>
        </p:spPr>
        <p:txBody>
          <a:bodyPr/>
          <a:lstStyle>
            <a:lvl1pPr marL="0" indent="0">
              <a:buNone/>
              <a:defRPr sz="7061"/>
            </a:lvl1pPr>
            <a:lvl2pPr marL="2017806" indent="0">
              <a:buNone/>
              <a:defRPr sz="6179"/>
            </a:lvl2pPr>
            <a:lvl3pPr marL="4035613" indent="0">
              <a:buNone/>
              <a:defRPr sz="5296"/>
            </a:lvl3pPr>
            <a:lvl4pPr marL="6053419" indent="0">
              <a:buNone/>
              <a:defRPr sz="4413"/>
            </a:lvl4pPr>
            <a:lvl5pPr marL="8071226" indent="0">
              <a:buNone/>
              <a:defRPr sz="4413"/>
            </a:lvl5pPr>
            <a:lvl6pPr marL="10089032" indent="0">
              <a:buNone/>
              <a:defRPr sz="4413"/>
            </a:lvl6pPr>
            <a:lvl7pPr marL="12106839" indent="0">
              <a:buNone/>
              <a:defRPr sz="4413"/>
            </a:lvl7pPr>
            <a:lvl8pPr marL="14124645" indent="0">
              <a:buNone/>
              <a:defRPr sz="4413"/>
            </a:lvl8pPr>
            <a:lvl9pPr marL="16142452" indent="0">
              <a:buNone/>
              <a:defRPr sz="441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82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2017818"/>
            <a:ext cx="13802256" cy="7062364"/>
          </a:xfrm>
        </p:spPr>
        <p:txBody>
          <a:bodyPr anchor="b"/>
          <a:lstStyle>
            <a:lvl1pPr>
              <a:defRPr sz="1412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3125" y="4357934"/>
            <a:ext cx="21664583" cy="21509383"/>
          </a:xfrm>
        </p:spPr>
        <p:txBody>
          <a:bodyPr anchor="t"/>
          <a:lstStyle>
            <a:lvl1pPr marL="0" indent="0">
              <a:buNone/>
              <a:defRPr sz="14123"/>
            </a:lvl1pPr>
            <a:lvl2pPr marL="2017806" indent="0">
              <a:buNone/>
              <a:defRPr sz="12358"/>
            </a:lvl2pPr>
            <a:lvl3pPr marL="4035613" indent="0">
              <a:buNone/>
              <a:defRPr sz="10592"/>
            </a:lvl3pPr>
            <a:lvl4pPr marL="6053419" indent="0">
              <a:buNone/>
              <a:defRPr sz="8827"/>
            </a:lvl4pPr>
            <a:lvl5pPr marL="8071226" indent="0">
              <a:buNone/>
              <a:defRPr sz="8827"/>
            </a:lvl5pPr>
            <a:lvl6pPr marL="10089032" indent="0">
              <a:buNone/>
              <a:defRPr sz="8827"/>
            </a:lvl6pPr>
            <a:lvl7pPr marL="12106839" indent="0">
              <a:buNone/>
              <a:defRPr sz="8827"/>
            </a:lvl7pPr>
            <a:lvl8pPr marL="14124645" indent="0">
              <a:buNone/>
              <a:defRPr sz="8827"/>
            </a:lvl8pPr>
            <a:lvl9pPr marL="16142452" indent="0">
              <a:buNone/>
              <a:defRPr sz="882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7678" y="9080183"/>
            <a:ext cx="13802256" cy="16822161"/>
          </a:xfrm>
        </p:spPr>
        <p:txBody>
          <a:bodyPr/>
          <a:lstStyle>
            <a:lvl1pPr marL="0" indent="0">
              <a:buNone/>
              <a:defRPr sz="7061"/>
            </a:lvl1pPr>
            <a:lvl2pPr marL="2017806" indent="0">
              <a:buNone/>
              <a:defRPr sz="6179"/>
            </a:lvl2pPr>
            <a:lvl3pPr marL="4035613" indent="0">
              <a:buNone/>
              <a:defRPr sz="5296"/>
            </a:lvl3pPr>
            <a:lvl4pPr marL="6053419" indent="0">
              <a:buNone/>
              <a:defRPr sz="4413"/>
            </a:lvl4pPr>
            <a:lvl5pPr marL="8071226" indent="0">
              <a:buNone/>
              <a:defRPr sz="4413"/>
            </a:lvl5pPr>
            <a:lvl6pPr marL="10089032" indent="0">
              <a:buNone/>
              <a:defRPr sz="4413"/>
            </a:lvl6pPr>
            <a:lvl7pPr marL="12106839" indent="0">
              <a:buNone/>
              <a:defRPr sz="4413"/>
            </a:lvl7pPr>
            <a:lvl8pPr marL="14124645" indent="0">
              <a:buNone/>
              <a:defRPr sz="4413"/>
            </a:lvl8pPr>
            <a:lvl9pPr marL="16142452" indent="0">
              <a:buNone/>
              <a:defRPr sz="441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95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2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24629" y="1611452"/>
            <a:ext cx="9227508" cy="25650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106" y="1611452"/>
            <a:ext cx="27147595" cy="256501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49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104" y="1611459"/>
            <a:ext cx="369100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104" y="8057261"/>
            <a:ext cx="369100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104" y="28053287"/>
            <a:ext cx="9628704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CD66B-EB89-4AAD-A3F2-1521D89E998C}" type="datetimeFigureOut">
              <a:rPr lang="en-GB" smtClean="0"/>
              <a:t>09/11/2023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5592" y="28053287"/>
            <a:ext cx="14443055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23430" y="28053287"/>
            <a:ext cx="9628704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A6B37-D3FA-4393-9597-A987373A1E0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13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35613" rtl="0" eaLnBrk="1" latinLnBrk="0" hangingPunct="1">
        <a:lnSpc>
          <a:spcPct val="90000"/>
        </a:lnSpc>
        <a:spcBef>
          <a:spcPct val="0"/>
        </a:spcBef>
        <a:buNone/>
        <a:defRPr sz="194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8903" indent="-1008903" algn="l" defTabSz="4035613" rtl="0" eaLnBrk="1" latinLnBrk="0" hangingPunct="1">
        <a:lnSpc>
          <a:spcPct val="90000"/>
        </a:lnSpc>
        <a:spcBef>
          <a:spcPts val="4413"/>
        </a:spcBef>
        <a:buFont typeface="Arial" panose="020B0604020202020204" pitchFamily="34" charset="0"/>
        <a:buChar char="•"/>
        <a:defRPr sz="12358" kern="1200">
          <a:solidFill>
            <a:schemeClr val="tx1"/>
          </a:solidFill>
          <a:latin typeface="+mn-lt"/>
          <a:ea typeface="+mn-ea"/>
          <a:cs typeface="+mn-cs"/>
        </a:defRPr>
      </a:lvl1pPr>
      <a:lvl2pPr marL="3026710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2" kern="1200">
          <a:solidFill>
            <a:schemeClr val="tx1"/>
          </a:solidFill>
          <a:latin typeface="+mn-lt"/>
          <a:ea typeface="+mn-ea"/>
          <a:cs typeface="+mn-cs"/>
        </a:defRPr>
      </a:lvl2pPr>
      <a:lvl3pPr marL="5044516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7" kern="1200">
          <a:solidFill>
            <a:schemeClr val="tx1"/>
          </a:solidFill>
          <a:latin typeface="+mn-lt"/>
          <a:ea typeface="+mn-ea"/>
          <a:cs typeface="+mn-cs"/>
        </a:defRPr>
      </a:lvl3pPr>
      <a:lvl4pPr marL="7062323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4pPr>
      <a:lvl5pPr marL="9080129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5pPr>
      <a:lvl6pPr marL="11097936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6pPr>
      <a:lvl7pPr marL="13115742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7pPr>
      <a:lvl8pPr marL="15133549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8pPr>
      <a:lvl9pPr marL="17151355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1pPr>
      <a:lvl2pPr marL="2017806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4035613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3pPr>
      <a:lvl4pPr marL="6053419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4pPr>
      <a:lvl5pPr marL="8071226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5pPr>
      <a:lvl6pPr marL="10089032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6pPr>
      <a:lvl7pPr marL="12106839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7pPr>
      <a:lvl8pPr marL="14124645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8pPr>
      <a:lvl9pPr marL="16142452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hyperlink" Target="mailto:joerg.Klausen@meteoswiss.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721" y="18344778"/>
            <a:ext cx="11534775" cy="1073467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-208234"/>
            <a:ext cx="42781934" cy="2009875"/>
          </a:xfrm>
          <a:prstGeom prst="rect">
            <a:avLst/>
          </a:prstGeom>
          <a:solidFill>
            <a:srgbClr val="23756B"/>
          </a:solidFill>
          <a:ln>
            <a:solidFill>
              <a:srgbClr val="2375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utoShape 6" descr="Japan Meteorological Agenc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4594"/>
              </p:ext>
            </p:extLst>
          </p:nvPr>
        </p:nvGraphicFramePr>
        <p:xfrm>
          <a:off x="1094738" y="2543014"/>
          <a:ext cx="40777160" cy="27227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0094">
                  <a:extLst>
                    <a:ext uri="{9D8B030D-6E8A-4147-A177-3AD203B41FA5}">
                      <a16:colId xmlns:a16="http://schemas.microsoft.com/office/drawing/2014/main" val="2492463518"/>
                    </a:ext>
                  </a:extLst>
                </a:gridCol>
                <a:gridCol w="1443439">
                  <a:extLst>
                    <a:ext uri="{9D8B030D-6E8A-4147-A177-3AD203B41FA5}">
                      <a16:colId xmlns:a16="http://schemas.microsoft.com/office/drawing/2014/main" val="2667331706"/>
                    </a:ext>
                  </a:extLst>
                </a:gridCol>
                <a:gridCol w="12630094">
                  <a:extLst>
                    <a:ext uri="{9D8B030D-6E8A-4147-A177-3AD203B41FA5}">
                      <a16:colId xmlns:a16="http://schemas.microsoft.com/office/drawing/2014/main" val="1811463551"/>
                    </a:ext>
                  </a:extLst>
                </a:gridCol>
                <a:gridCol w="1443439">
                  <a:extLst>
                    <a:ext uri="{9D8B030D-6E8A-4147-A177-3AD203B41FA5}">
                      <a16:colId xmlns:a16="http://schemas.microsoft.com/office/drawing/2014/main" val="1176308337"/>
                    </a:ext>
                  </a:extLst>
                </a:gridCol>
                <a:gridCol w="12630094">
                  <a:extLst>
                    <a:ext uri="{9D8B030D-6E8A-4147-A177-3AD203B41FA5}">
                      <a16:colId xmlns:a16="http://schemas.microsoft.com/office/drawing/2014/main" val="77117426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Greenhouse gases</a:t>
                      </a:r>
                      <a:endParaRPr lang="en-GB" sz="3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756B"/>
                    </a:solidFill>
                  </a:tcPr>
                </a:tc>
                <a:tc rowSpan="10">
                  <a:txBody>
                    <a:bodyPr/>
                    <a:lstStyle/>
                    <a:p>
                      <a:endParaRPr lang="en-GB" sz="3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kern="12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Aerosol particles</a:t>
                      </a:r>
                      <a:endParaRPr lang="en-GB" sz="36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756B"/>
                    </a:solidFill>
                  </a:tcPr>
                </a:tc>
                <a:tc rowSpan="10">
                  <a:txBody>
                    <a:bodyPr/>
                    <a:lstStyle/>
                    <a:p>
                      <a:endParaRPr lang="en-GB" sz="3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7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405544"/>
                  </a:ext>
                </a:extLst>
              </a:tr>
              <a:tr h="6579672">
                <a:tc rowSpan="5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353630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kern="12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References</a:t>
                      </a:r>
                      <a:endParaRPr lang="en-GB" sz="36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7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92720"/>
                  </a:ext>
                </a:extLst>
              </a:tr>
              <a:tr h="235321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endParaRPr lang="en-GB" sz="16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GB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World Data Centre for Greenhouse Gases</a:t>
                      </a:r>
                      <a:endParaRPr lang="en-US" sz="16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Xin Lan (NOAA), Atmospheric CO2 at Mt. Kenya by Global Monitoring Laboratory, NOAA , datasets published as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CO2_MKN_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flask_NOAA_ccgg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2023-08-29-0912 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CH4_MKN_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flask_NOAA_ccgg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2023-08-29-1037 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N2O_MKN_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flask_NOAA_ccgg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2023-08-29-112 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SF6_MKN_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flask_NOAA_ccgg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2023-08-29-1238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Christoph Zellweger (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Empa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Mathew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Mutuku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(KMD), David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Murithi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Njiru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(KMD), Martin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Steinbacher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Empa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Jörg Klausen (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MeteoSwiss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Atmospheric CO2 at Mt. Kenya by Kenya Meteorological Department , datasets published as 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CO2_MKN_ surface-insitu_KMD_data1 at WDCGG, ver. 2023-08-10-1309, https://doi.org/10.50849/WDCGG_0040-1005-1001-01-01-9999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CH4_MKN_ surface-insitu_KMD_data1 at WDCGG, ver. 2023-08-10-1309, https://doi.org/10.50849/WDCGG_0040-1005-1002-01-01-9999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CO_MKN_ surface-insitu_KMD_data1 at WDCGG, ver. 2023-08-10-1309, https://doi.org/10.50849/WDCGG_0040-1005-3001-01-01-9999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James White (INSTAAR), Bruce H Vaughn (INSTAAR), Sylvia Michel (INSTAAR), Atmospheric 13CO2 at Mt. Kenya by Global Monitoring Laboratory, NOAA , datasets published as 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13CO2_MKN_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flask_NOAA_sil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2022-07-05-152 C18O2_MKN_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flask_NOAA_sil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2022-07-05-1524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Gabrielle Petron (NOAA), Atmospheric CO at Mt. Kenya by Global Monitoring Laboratory, NOAA , datasets published as 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flask_NOAA_ccgg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2023-08-29-1326 H2_MKN_ surface-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flask_NOAA_ccgg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WDCGG, ver. 2023-07-06-0837</a:t>
                      </a:r>
                    </a:p>
                    <a:p>
                      <a:endParaRPr lang="en-GB" sz="16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GB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World Data Centre on Aerosols and Reactive Gases</a:t>
                      </a:r>
                      <a:endParaRPr lang="en-US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Nicolas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Bukowiecki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aerosol_light_backscattering_coefficient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aerosol_light_scattering_coefficient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nephelometer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Detlev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Helmig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2-methylbutane, 2-methylpropane, ethane, n-butane, n-pentane, propane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glass_flask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Stefan Henne, John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Aseyo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Kennedy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Thiong'o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ozone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uv_abs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Constance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Okuku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Zablon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Shilenje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ozone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uv_abs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Martin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Oloo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ozone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uv_abs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David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Njiru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ozone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uv_abs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Stefan Henne, John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Aseyo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Kennedy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Thiong'o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carbon_monoxide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ndir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Joerg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Klausen, John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Aseyo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Kennedy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Thiong'o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pressure,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relative_humidity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temperature,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wind_direction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wind_speed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sz="1600" i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</a:t>
                      </a:r>
                      <a:r>
                        <a:rPr lang="en-US" sz="160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Mt. Kenya, data hosted by EBAS at NILU</a:t>
                      </a:r>
                    </a:p>
                    <a:p>
                      <a:endParaRPr lang="en-GB" sz="1600" i="1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n-GB" sz="1600" i="1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40356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date: 2023/09/28</a:t>
                      </a:r>
                      <a:endParaRPr lang="en-GB" sz="1600" i="1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40356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i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66261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kern="12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Meteorology</a:t>
                      </a:r>
                      <a:endParaRPr lang="en-GB" sz="36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756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01049"/>
                  </a:ext>
                </a:extLst>
              </a:tr>
              <a:tr h="35853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1600" i="1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8219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b="1" kern="12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Other gases</a:t>
                      </a:r>
                      <a:endParaRPr lang="en-GB" sz="36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756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700753"/>
                  </a:ext>
                </a:extLst>
              </a:tr>
              <a:tr h="875768">
                <a:tc rowSpan="3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289856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pPr algn="ctr"/>
                      <a:endParaRPr lang="en-GB" sz="36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56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7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397726"/>
                  </a:ext>
                </a:extLst>
              </a:tr>
              <a:tr h="8970818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098419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038" y="3634693"/>
            <a:ext cx="11534775" cy="12811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8545" y="16445818"/>
            <a:ext cx="9974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latin typeface="Arial" panose="020B0604020202020204" pitchFamily="34" charset="0"/>
                <a:cs typeface="Arial" panose="020B0604020202020204" pitchFamily="34" charset="0"/>
              </a:rPr>
              <a:t>Global Warming Potential (GWP) according to IPCC AR6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/>
          <a:srcRect r="76780"/>
          <a:stretch/>
        </p:blipFill>
        <p:spPr>
          <a:xfrm>
            <a:off x="39856467" y="6169296"/>
            <a:ext cx="1629688" cy="1060784"/>
          </a:xfrm>
          <a:prstGeom prst="rect">
            <a:avLst/>
          </a:prstGeom>
        </p:spPr>
      </p:pic>
      <p:pic>
        <p:nvPicPr>
          <p:cNvPr id="20" name="Picture 2" descr="Empa - Swiss Federal Laboratories for Materials Science and Technolog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1682" y="6183567"/>
            <a:ext cx="2935229" cy="86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1682" y="7538986"/>
            <a:ext cx="2640144" cy="94290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66158" y="7852633"/>
            <a:ext cx="2573748" cy="97948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37492680" y="3470243"/>
            <a:ext cx="4250881" cy="18066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29215620" y="3470243"/>
            <a:ext cx="5874045" cy="2039811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29774969" y="20075832"/>
            <a:ext cx="11552443" cy="7679192"/>
            <a:chOff x="29847935" y="12650968"/>
            <a:chExt cx="11552443" cy="7679192"/>
          </a:xfrm>
        </p:grpSpPr>
        <p:grpSp>
          <p:nvGrpSpPr>
            <p:cNvPr id="26" name="Group 25"/>
            <p:cNvGrpSpPr/>
            <p:nvPr/>
          </p:nvGrpSpPr>
          <p:grpSpPr>
            <a:xfrm>
              <a:off x="29847935" y="13722209"/>
              <a:ext cx="11552443" cy="6607951"/>
              <a:chOff x="29847935" y="13722209"/>
              <a:chExt cx="11552443" cy="6607951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29847935" y="13722209"/>
                <a:ext cx="11550919" cy="6607951"/>
              </a:xfrm>
              <a:prstGeom prst="rect">
                <a:avLst/>
              </a:prstGeom>
              <a:solidFill>
                <a:srgbClr val="23756B"/>
              </a:solidFill>
              <a:ln>
                <a:solidFill>
                  <a:srgbClr val="2375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29849460" y="13999183"/>
                <a:ext cx="11550918" cy="21852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Automatic weather station (AWS), Radiation station, Surface land meteorological station (SYNOP)</a:t>
                </a:r>
                <a:endParaRPr lang="en-GB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GB" sz="2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Location: </a:t>
                </a:r>
                <a:r>
                  <a:rPr lang="en-US" sz="2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0.0621999986°S, 37.2971992493°E, 3678m</a:t>
                </a:r>
              </a:p>
              <a:p>
                <a:pPr algn="ctr"/>
                <a:endParaRPr lang="en-US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GB" sz="2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Established 1999/01/01</a:t>
                </a:r>
              </a:p>
            </p:txBody>
          </p:sp>
        </p:grpSp>
        <p:sp>
          <p:nvSpPr>
            <p:cNvPr id="27" name="Oval 26"/>
            <p:cNvSpPr/>
            <p:nvPr/>
          </p:nvSpPr>
          <p:spPr>
            <a:xfrm>
              <a:off x="35263394" y="12650968"/>
              <a:ext cx="720000" cy="720000"/>
            </a:xfrm>
            <a:prstGeom prst="ellipse">
              <a:avLst/>
            </a:prstGeom>
            <a:solidFill>
              <a:srgbClr val="23756B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GB" sz="4400" b="1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30343046" y="16549574"/>
              <a:ext cx="10588866" cy="3049648"/>
              <a:chOff x="30189690" y="15427935"/>
              <a:chExt cx="10588866" cy="3049648"/>
            </a:xfrm>
          </p:grpSpPr>
          <p:grpSp>
            <p:nvGrpSpPr>
              <p:cNvPr id="29" name="Group 28"/>
              <p:cNvGrpSpPr/>
              <p:nvPr/>
            </p:nvGrpSpPr>
            <p:grpSpPr>
              <a:xfrm>
                <a:off x="30189690" y="15427935"/>
                <a:ext cx="10588866" cy="3049648"/>
                <a:chOff x="30221321" y="1724006"/>
                <a:chExt cx="10588866" cy="3049648"/>
              </a:xfrm>
            </p:grpSpPr>
            <p:pic>
              <p:nvPicPr>
                <p:cNvPr id="31" name="Picture 2" descr="https://oscar.wmo.int/surface/rest/api/files/image/8a7a8969-04e6-4e77-a3e0-3148ef98d0a1?thumbnail=false"/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221321" y="1724006"/>
                  <a:ext cx="4599173" cy="304964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32" name="Group 31"/>
                <p:cNvGrpSpPr/>
                <p:nvPr/>
              </p:nvGrpSpPr>
              <p:grpSpPr>
                <a:xfrm>
                  <a:off x="36620150" y="2332162"/>
                  <a:ext cx="4190037" cy="2371279"/>
                  <a:chOff x="36450376" y="2896832"/>
                  <a:chExt cx="4190037" cy="2371279"/>
                </a:xfrm>
              </p:grpSpPr>
              <p:pic>
                <p:nvPicPr>
                  <p:cNvPr id="33" name="Picture 32"/>
                  <p:cNvPicPr>
                    <a:picLocks noChangeAspect="1"/>
                  </p:cNvPicPr>
                  <p:nvPr/>
                </p:nvPicPr>
                <p:blipFill rotWithShape="1">
                  <a:blip r:embed="rId12"/>
                  <a:srcRect l="1768" t="2670" r="2645" b="4298"/>
                  <a:stretch/>
                </p:blipFill>
                <p:spPr>
                  <a:xfrm>
                    <a:off x="38534644" y="2896832"/>
                    <a:ext cx="2105769" cy="2371279"/>
                  </a:xfrm>
                  <a:prstGeom prst="rect">
                    <a:avLst/>
                  </a:prstGeom>
                </p:spPr>
              </p:pic>
              <p:cxnSp>
                <p:nvCxnSpPr>
                  <p:cNvPr id="34" name="Straight Arrow Connector 33"/>
                  <p:cNvCxnSpPr/>
                  <p:nvPr/>
                </p:nvCxnSpPr>
                <p:spPr>
                  <a:xfrm>
                    <a:off x="36564694" y="4441111"/>
                    <a:ext cx="1699100" cy="0"/>
                  </a:xfrm>
                  <a:prstGeom prst="straightConnector1">
                    <a:avLst/>
                  </a:prstGeom>
                  <a:ln w="57150">
                    <a:solidFill>
                      <a:schemeClr val="bg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36450376" y="3862705"/>
                    <a:ext cx="362683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800" b="1" dirty="0" smtClean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Metadata</a:t>
                    </a:r>
                    <a:endParaRPr lang="en-GB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668966" y="15559866"/>
                <a:ext cx="2046656" cy="365853"/>
              </a:xfrm>
              <a:prstGeom prst="rect">
                <a:avLst/>
              </a:prstGeom>
            </p:spPr>
          </p:pic>
        </p:grpSp>
      </p:grpSp>
      <p:sp>
        <p:nvSpPr>
          <p:cNvPr id="5" name="TextBox 4"/>
          <p:cNvSpPr txBox="1"/>
          <p:nvPr/>
        </p:nvSpPr>
        <p:spPr>
          <a:xfrm flipH="1">
            <a:off x="29774969" y="27877878"/>
            <a:ext cx="115509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 </a:t>
            </a:r>
            <a:r>
              <a:rPr lang="en-GB" sz="2000" b="1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Editors:</a:t>
            </a:r>
            <a:r>
              <a:rPr lang="en-GB" sz="2000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GB" sz="2000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Sarina Danioth, Jörg Klausen </a:t>
            </a:r>
          </a:p>
          <a:p>
            <a:pPr algn="ctr"/>
            <a:r>
              <a:rPr lang="en-GB" sz="2000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(Federal Office of Meteorology and Climatology </a:t>
            </a:r>
            <a:r>
              <a:rPr lang="en-GB" sz="2000" i="1" dirty="0" err="1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MeteoSwiss</a:t>
            </a:r>
            <a:r>
              <a:rPr lang="en-GB" sz="2000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GB" sz="1100" i="1" dirty="0" smtClean="0">
              <a:solidFill>
                <a:srgbClr val="2375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400" b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</a:t>
            </a:r>
            <a:r>
              <a:rPr lang="en-GB" sz="2000" b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</a:t>
            </a:r>
            <a:r>
              <a:rPr lang="en-GB" sz="2000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Contact:</a:t>
            </a:r>
          </a:p>
          <a:p>
            <a:pPr algn="ctr"/>
            <a:r>
              <a:rPr lang="en-GB" sz="2000" i="1" dirty="0" smtClean="0">
                <a:solidFill>
                  <a:srgbClr val="23756B"/>
                </a:solidFill>
                <a:latin typeface="Arial" panose="020B0604020202020204" pitchFamily="34" charset="0"/>
                <a:cs typeface="Arial" panose="020B0604020202020204" pitchFamily="34" charset="0"/>
                <a:hlinkClick r:id="rId14"/>
              </a:rPr>
              <a:t>Joerg.Klausen@meteoswiss.ch</a:t>
            </a:r>
            <a:endParaRPr lang="en-GB" sz="2000" i="1" dirty="0" smtClean="0">
              <a:solidFill>
                <a:srgbClr val="2375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i="1" dirty="0">
              <a:solidFill>
                <a:srgbClr val="2375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b="1" dirty="0">
              <a:solidFill>
                <a:srgbClr val="23756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619" y="-20685"/>
            <a:ext cx="427942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 smtClean="0">
                <a:solidFill>
                  <a:schemeClr val="bg1"/>
                </a:solidFill>
                <a:latin typeface="Ar"/>
              </a:rPr>
              <a:t>Mount </a:t>
            </a:r>
            <a:r>
              <a:rPr lang="en-GB" sz="5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Kenya (MKN)</a:t>
            </a:r>
          </a:p>
          <a:p>
            <a:pPr algn="ctr"/>
            <a:endParaRPr lang="en-GB" sz="1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4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Data</a:t>
            </a:r>
            <a:endParaRPr lang="en-GB" sz="4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5720878" y="14020069"/>
            <a:ext cx="11430000" cy="15212201"/>
            <a:chOff x="15720878" y="11619769"/>
            <a:chExt cx="11430000" cy="15212201"/>
          </a:xfrm>
        </p:grpSpPr>
        <p:sp>
          <p:nvSpPr>
            <p:cNvPr id="12" name="TextBox 11"/>
            <p:cNvSpPr txBox="1"/>
            <p:nvPr/>
          </p:nvSpPr>
          <p:spPr>
            <a:xfrm>
              <a:off x="16399575" y="26462638"/>
              <a:ext cx="10600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* Wind speed data between 2002 and 2007 were corrected by a factor </a:t>
              </a:r>
              <a:r>
                <a:rPr lang="en-GB" i="1" dirty="0">
                  <a:latin typeface="Arial" panose="020B0604020202020204" pitchFamily="34" charset="0"/>
                  <a:cs typeface="Arial" panose="020B0604020202020204" pitchFamily="34" charset="0"/>
                </a:rPr>
                <a:t>of </a:t>
              </a:r>
              <a:r>
                <a:rPr lang="en-US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1/1.852.</a:t>
              </a:r>
              <a:endParaRPr lang="en-GB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15720878" y="11619769"/>
              <a:ext cx="11430000" cy="14878050"/>
              <a:chOff x="15722951" y="11775805"/>
              <a:chExt cx="11430000" cy="14878050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722951" y="11775805"/>
                <a:ext cx="11430000" cy="14878050"/>
              </a:xfrm>
              <a:prstGeom prst="rect">
                <a:avLst/>
              </a:prstGeom>
            </p:spPr>
          </p:pic>
          <p:sp>
            <p:nvSpPr>
              <p:cNvPr id="45" name="TextBox 44"/>
              <p:cNvSpPr txBox="1"/>
              <p:nvPr/>
            </p:nvSpPr>
            <p:spPr>
              <a:xfrm>
                <a:off x="22315714" y="20065563"/>
                <a:ext cx="522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*</a:t>
                </a:r>
              </a:p>
            </p:txBody>
          </p:sp>
        </p:grpSp>
      </p:grpSp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7815"/>
          <a:stretch/>
        </p:blipFill>
        <p:spPr>
          <a:xfrm>
            <a:off x="29470083" y="6346369"/>
            <a:ext cx="3554319" cy="23952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441682" y="8735685"/>
            <a:ext cx="4233355" cy="5112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643666" y="3596440"/>
            <a:ext cx="11601450" cy="65913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26671212" y="4135902"/>
            <a:ext cx="1096950" cy="6242178"/>
            <a:chOff x="26671212" y="4135902"/>
            <a:chExt cx="1096950" cy="6242178"/>
          </a:xfrm>
        </p:grpSpPr>
        <p:sp>
          <p:nvSpPr>
            <p:cNvPr id="17" name="Curved Up Arrow 16"/>
            <p:cNvSpPr/>
            <p:nvPr/>
          </p:nvSpPr>
          <p:spPr>
            <a:xfrm rot="15171778">
              <a:off x="24995616" y="7710195"/>
              <a:ext cx="4343481" cy="992290"/>
            </a:xfrm>
            <a:prstGeom prst="curvedUpArrow">
              <a:avLst/>
            </a:prstGeom>
            <a:solidFill>
              <a:srgbClr val="23756B"/>
            </a:solidFill>
            <a:ln>
              <a:solidFill>
                <a:srgbClr val="23756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1" name="Curved Up Arrow 40"/>
            <p:cNvSpPr/>
            <p:nvPr/>
          </p:nvSpPr>
          <p:spPr>
            <a:xfrm rot="15224194">
              <a:off x="24323154" y="6635203"/>
              <a:ext cx="5944309" cy="945707"/>
            </a:xfrm>
            <a:prstGeom prst="curvedUpArrow">
              <a:avLst>
                <a:gd name="adj1" fmla="val 25000"/>
                <a:gd name="adj2" fmla="val 55486"/>
                <a:gd name="adj3" fmla="val 36799"/>
              </a:avLst>
            </a:prstGeom>
            <a:solidFill>
              <a:srgbClr val="23756B"/>
            </a:solidFill>
            <a:ln>
              <a:solidFill>
                <a:srgbClr val="23756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8509" y="10220449"/>
            <a:ext cx="4160202" cy="25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756B"/>
            </a:solidFill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285" y="18289061"/>
            <a:ext cx="11534775" cy="1073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530</Words>
  <Application>Microsoft Office PowerPoint</Application>
  <PresentationFormat>Benutzerdefiniert</PresentationFormat>
  <Paragraphs>58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</vt:lpstr>
      <vt:lpstr>Arial</vt:lpstr>
      <vt:lpstr>Calibri</vt:lpstr>
      <vt:lpstr>Calibri Light</vt:lpstr>
      <vt:lpstr>Wingdings</vt:lpstr>
      <vt:lpstr>Office Theme</vt:lpstr>
      <vt:lpstr>PowerPoint-Präsentation</vt:lpstr>
    </vt:vector>
  </TitlesOfParts>
  <Company>MeteoSwiss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Danioth Sarina</dc:creator>
  <cp:lastModifiedBy>Danioth Sarina</cp:lastModifiedBy>
  <cp:revision>159</cp:revision>
  <dcterms:created xsi:type="dcterms:W3CDTF">2023-09-27T07:47:53Z</dcterms:created>
  <dcterms:modified xsi:type="dcterms:W3CDTF">2023-11-09T08:32:52Z</dcterms:modified>
</cp:coreProperties>
</file>